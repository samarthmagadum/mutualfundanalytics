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61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5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4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97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7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38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71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50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85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88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8098008-2CBE-4B57-870B-E5AC62BFED9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6C7DC5-F049-4FF5-9695-0657773BFF9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1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885671-A065-1288-47EA-D33C0288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737360"/>
            <a:ext cx="10058400" cy="338328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</a:t>
            </a:r>
            <a:br>
              <a:rPr lang="en-IN" dirty="0"/>
            </a:b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br>
              <a:rPr lang="en-IN" dirty="0"/>
            </a:b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4531A84-0C82-2539-6B83-CE529E4CE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25696"/>
            <a:ext cx="10058400" cy="1673352"/>
          </a:xfrm>
        </p:spPr>
        <p:txBody>
          <a:bodyPr>
            <a:no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Samarth Magadum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Fintech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SQL, SQLite, Power BI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Year: 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D21DEC-60E2-ACFD-A6D3-AD8A65512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162" y="303466"/>
            <a:ext cx="4257675" cy="2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26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4AAAE0-1407-3B0A-8CAD-4F41B5D0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EEFFD69-6140-8695-657C-365AC5E80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data is scattered across multiple    sources.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comparison is difficult due to complex metrics.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tracking is not available.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behaviour analysis is limited.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reporting is slow and time-consuming.</a:t>
            </a:r>
          </a:p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C3B3C7-AB1B-C071-91CC-4145F1375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 w="3175">
            <a:solidFill>
              <a:schemeClr val="tx1"/>
            </a:solidFill>
            <a:prstDash val="solid"/>
          </a:ln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datasets into one database.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fund performance and risk.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funds with benchmark indices.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investor investment trends.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interactive Power BI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70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FF2120-AB86-A76A-F44F-5E83AF6E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9157801-D422-34CF-CD7C-D075C1D9B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114910"/>
              </p:ext>
            </p:extLst>
          </p:nvPr>
        </p:nvGraphicFramePr>
        <p:xfrm>
          <a:off x="1097757" y="1846023"/>
          <a:ext cx="10056812" cy="4358486"/>
        </p:xfrm>
        <a:graphic>
          <a:graphicData uri="http://schemas.openxmlformats.org/drawingml/2006/table">
            <a:tbl>
              <a:tblPr/>
              <a:tblGrid>
                <a:gridCol w="5028406">
                  <a:extLst>
                    <a:ext uri="{9D8B030D-6E8A-4147-A177-3AD203B41FA5}">
                      <a16:colId xmlns:a16="http://schemas.microsoft.com/office/drawing/2014/main" val="3736361411"/>
                    </a:ext>
                  </a:extLst>
                </a:gridCol>
                <a:gridCol w="5028406">
                  <a:extLst>
                    <a:ext uri="{9D8B030D-6E8A-4147-A177-3AD203B41FA5}">
                      <a16:colId xmlns:a16="http://schemas.microsoft.com/office/drawing/2014/main" val="3556247004"/>
                    </a:ext>
                  </a:extLst>
                </a:gridCol>
              </a:tblGrid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839540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 Master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 details and category information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842822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 History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Daily Net Asset Value (NAV) records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55669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 Under Management of fund houses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25621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SIP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Systematic Investment Plan inflows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03374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Category-wise investment inflows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71195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Folio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folio (investor account) count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740879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Investor purchase and redemption details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609821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 return and performance metrics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223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 holdings of mutual funds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79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Nifty 50 and Nifty 100 market index data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06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67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DA593C-5DE8-07AF-240B-4E0DAA53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1ED12D-8416-C7BB-889F-A7A62A1C7C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176" y="286603"/>
            <a:ext cx="2889504" cy="583073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A0AA6-5041-A3FA-38DF-47FA0C95F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8240" y="1900599"/>
            <a:ext cx="4937760" cy="4023360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7B2C54-23F9-72EB-6C53-D53D361E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- Industry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AED88-2124-20D4-05D1-BB5067C3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increased steadily.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showed continuous growth.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investments increased yearly.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participation improved.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showed positive growth.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519D1-17AB-B5E7-D485-FF9365C5D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034" y="1845734"/>
            <a:ext cx="5805678" cy="214105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DB1D97-25B3-D1EA-75D5-B2D9ED79E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034" y="4095158"/>
            <a:ext cx="5805678" cy="2150194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36260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E35D-9EB2-5597-BA76-38750093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 – Investment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11302-4F99-D8F6-7472-293DBB8ED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70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funds received more investments.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inflows changed monthly.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investments increased.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trends affected fund inflows.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patterns became clearer.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715BE-5489-5039-1FED-C79D5EC4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906" y="1818132"/>
            <a:ext cx="5369814" cy="188214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BA964C-FE16-7119-470F-FE1E8033A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906" y="3808646"/>
            <a:ext cx="5369814" cy="2336122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403119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FE59-CE53-E6E6-DBBE-75F44853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7892-F380-A444-3958-1931EF1AE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5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Metrics Calculated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Returns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daily fund performance.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 (1, 3 &amp; 5 Years)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Calculated long-term annual growth.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return compared to total risk.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Sortino Ratio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Evaluated return considering downside risk only.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fund performance against the benchmark.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fund sensitivity to market movements.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Drawdown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Calculated the largest loss from peak value.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Scorecard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Compared mutual funds based on overall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042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2DB8-161C-341A-9498-290F28E1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&amp;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5887-A752-A482-6638-9FFC1770B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6583682" cy="4408762"/>
          </a:xfrm>
          <a:ln>
            <a:solidFill>
              <a:schemeClr val="tx1"/>
            </a:solidFill>
            <a:prstDash val="solid"/>
          </a:ln>
        </p:spPr>
        <p:txBody>
          <a:bodyPr>
            <a:normAutofit fontScale="25000" lnSpcReduction="20000"/>
          </a:bodyPr>
          <a:lstStyle/>
          <a:p>
            <a:pPr>
              <a:lnSpc>
                <a:spcPct val="11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  <a:p>
            <a:pPr>
              <a:lnSpc>
                <a:spcPct val="1100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Metrics Calculated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Risk (</a:t>
            </a:r>
            <a:r>
              <a:rPr lang="en-IN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Estimated the maximum expected loss at a given confidence level.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Value at Risk (CVaR)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Measured the average loss beyond the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90-Day Sharpe Ratio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Evaluated changes in risk-adjusted returns over time.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Cohort &amp; SIP Analysis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Studied investor behaviour and SIP continuity.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Recommendation System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Ranked mutual funds based on return, risk, and performance.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FAAE7-B03D-EFF5-4DCF-38BEC6440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6992" y="1871812"/>
            <a:ext cx="3456432" cy="4382684"/>
          </a:xfrm>
          <a:ln>
            <a:solidFill>
              <a:schemeClr val="tx1"/>
            </a:solidFill>
            <a:prstDash val="solid"/>
          </a:ln>
        </p:spPr>
        <p:txBody>
          <a:bodyPr>
            <a:normAutofit fontScale="25000" lnSpcReduction="20000"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high-risk and low-risk mutual funds.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downside risk more accurately.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Analysed investor investment patterns.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funds using advanced financial metrics.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Helped investors choose suitable mutual fund schemes.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33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8C24-CBAB-C9F8-55C0-E28ACFFE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1193"/>
            <a:ext cx="10058400" cy="10566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1 &amp;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A74E-E824-40B1-13BB-655C9F45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448" y="1426464"/>
            <a:ext cx="5879591" cy="4809744"/>
          </a:xfrm>
          <a:ln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1.Total AUM   2.Total SIP   3.Total Folios   4.Industry Growth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D799B-38DA-14D3-92EA-926E78080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426464"/>
            <a:ext cx="5818632" cy="4809743"/>
          </a:xfrm>
          <a:ln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1.Risk vs Return    2.NAV Trend     3.Benchmark Comparison    4.Fund Filters 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BF26C9-1ADA-2BAA-C717-1C4AF879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2377441"/>
            <a:ext cx="5742432" cy="3825692"/>
          </a:xfrm>
          <a:prstGeom prst="rect">
            <a:avLst/>
          </a:prstGeom>
          <a:ln w="3175">
            <a:solidFill>
              <a:schemeClr val="tx1"/>
            </a:solidFill>
            <a:prstDash val="solid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C9D1EB-55C3-D30C-41F4-42262F883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29" y="2410515"/>
            <a:ext cx="5690615" cy="3792618"/>
          </a:xfrm>
          <a:prstGeom prst="rect">
            <a:avLst/>
          </a:prstGeom>
          <a:ln w="3175"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42632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D866-652B-5566-9561-39B14C2E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24B7-EDB5-41A2-604E-C53753E6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1193"/>
            <a:ext cx="10058400" cy="10566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3 &amp;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ED33-EE95-BF16-BD5B-37671FBF8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448" y="1426464"/>
            <a:ext cx="5879591" cy="4809744"/>
          </a:xfrm>
          <a:ln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1.State-wise Investments    2.Age Group     3.AnalysisTransactions  4.Monthly Trends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F0897-861A-1ABC-42AF-BAB816DB5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426464"/>
            <a:ext cx="5818632" cy="4809743"/>
          </a:xfrm>
          <a:ln>
            <a:solidFill>
              <a:schemeClr val="tx1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&amp; Market Trends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1.SIP Growth       2.Nifty 50 Trend      3.Category Heatmap         4.Top Categories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3DB5D-6E97-7804-6E15-529546191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2459737"/>
            <a:ext cx="5705857" cy="3703320"/>
          </a:xfrm>
          <a:prstGeom prst="rect">
            <a:avLst/>
          </a:prstGeom>
          <a:ln w="3175">
            <a:solidFill>
              <a:schemeClr val="tx1"/>
            </a:solidFill>
            <a:prstDash val="solid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B4D9E-1429-AE86-C656-93441CB8E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28" y="2459737"/>
            <a:ext cx="565404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59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4A777B-E66E-53CF-FDDD-0F237E18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AED0E-9B63-ED8C-ECF5-D2E7050C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4482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and SIP inflows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consistent growth, indicating increasing investor participation.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funds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better long-term returns compared to debt funds.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Large-cap funds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more stable performance with lower risk.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CAGR, Sharpe Ratio, Alpha, and Beta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identify the best-performing funds.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simplified fund comparison and supported better investment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312296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FD5F-827B-D942-CEE4-1A33A590F5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1914017"/>
            <a:ext cx="10058400" cy="1450975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2993121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9586D3"/>
      </a:accent1>
      <a:accent2>
        <a:srgbClr val="543FAD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617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Retrospect</vt:lpstr>
      <vt:lpstr>Mutual Fund Analytics Capstone Project </vt:lpstr>
      <vt:lpstr>Problem Statement &amp; Objective</vt:lpstr>
      <vt:lpstr>Data Sources</vt:lpstr>
      <vt:lpstr>Project Architecture</vt:lpstr>
      <vt:lpstr>EDA Highlights - Industry</vt:lpstr>
      <vt:lpstr>EDA Highlights – Investment Patterns</vt:lpstr>
      <vt:lpstr>Performance Metrics</vt:lpstr>
      <vt:lpstr>Advanced Analytics &amp; Risk Analysis</vt:lpstr>
      <vt:lpstr>Dashboard 1 &amp; 2</vt:lpstr>
      <vt:lpstr>Dashboard 3 &amp; 4</vt:lpstr>
      <vt:lpstr>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MAGADUM</dc:creator>
  <cp:lastModifiedBy>SAMARTH MAGADUM</cp:lastModifiedBy>
  <cp:revision>2</cp:revision>
  <dcterms:created xsi:type="dcterms:W3CDTF">2026-07-05T09:15:10Z</dcterms:created>
  <dcterms:modified xsi:type="dcterms:W3CDTF">2026-07-05T11:05:39Z</dcterms:modified>
</cp:coreProperties>
</file>